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799971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6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00" y="1122363"/>
            <a:ext cx="13500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00" y="3602038"/>
            <a:ext cx="13500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25" y="1709738"/>
            <a:ext cx="155250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25" y="4589463"/>
            <a:ext cx="155250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00" y="1825625"/>
            <a:ext cx="76500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500" y="1825625"/>
            <a:ext cx="76500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45" y="365125"/>
            <a:ext cx="155250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45" y="1681163"/>
            <a:ext cx="761484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45" y="2505075"/>
            <a:ext cx="7614843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500" y="1681163"/>
            <a:ext cx="765234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500" y="2505075"/>
            <a:ext cx="7652345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45" y="457200"/>
            <a:ext cx="580546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345" y="987425"/>
            <a:ext cx="91125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45" y="2057400"/>
            <a:ext cx="580546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45" y="457200"/>
            <a:ext cx="580546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652345" y="987425"/>
            <a:ext cx="91125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45" y="2057400"/>
            <a:ext cx="580546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250" y="365125"/>
            <a:ext cx="388125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00" y="365125"/>
            <a:ext cx="1141875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00" y="365125"/>
            <a:ext cx="15525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00" y="1825625"/>
            <a:ext cx="15525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00" y="6356350"/>
            <a:ext cx="405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500" y="6356350"/>
            <a:ext cx="60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500" y="6356350"/>
            <a:ext cx="405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Straight Connector 44"/>
          <p:cNvCxnSpPr/>
          <p:nvPr/>
        </p:nvCxnSpPr>
        <p:spPr>
          <a:xfrm>
            <a:off x="13025900" y="1763395"/>
            <a:ext cx="35560" cy="19894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8895225" y="1787525"/>
            <a:ext cx="635" cy="2044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8895860" y="2853055"/>
            <a:ext cx="17780" cy="2758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endCxn id="8" idx="0"/>
          </p:cNvCxnSpPr>
          <p:nvPr/>
        </p:nvCxnSpPr>
        <p:spPr>
          <a:xfrm>
            <a:off x="4008265" y="2440940"/>
            <a:ext cx="13335" cy="8267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14046980" y="3761105"/>
            <a:ext cx="22860" cy="2425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12106420" y="3750945"/>
            <a:ext cx="19050" cy="2268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Rectangles 48"/>
          <p:cNvSpPr/>
          <p:nvPr/>
        </p:nvSpPr>
        <p:spPr>
          <a:xfrm>
            <a:off x="6286010" y="5618480"/>
            <a:ext cx="6085840" cy="113792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7814455" y="261620"/>
            <a:ext cx="1508760" cy="229235"/>
          </a:xfrm>
          <a:prstGeom prst="roundRect">
            <a:avLst/>
          </a:prstGeom>
          <a:solidFill>
            <a:srgbClr val="DAE6F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MY" altLang="en-US" sz="120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Welcome MEX Bot</a:t>
            </a:r>
            <a:endParaRPr lang="en-MY" altLang="en-US" sz="120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243090" y="1348740"/>
            <a:ext cx="1637665" cy="429895"/>
          </a:xfrm>
          <a:prstGeom prst="roundRect">
            <a:avLst/>
          </a:prstGeom>
          <a:solidFill>
            <a:srgbClr val="DAE6F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MY" altLang="en-US" sz="120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What are my top selling items?</a:t>
            </a:r>
            <a:endParaRPr lang="en-MY" altLang="en-US" sz="120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161810" y="3267710"/>
            <a:ext cx="1718945" cy="429895"/>
          </a:xfrm>
          <a:prstGeom prst="roundRect">
            <a:avLst/>
          </a:prstGeom>
          <a:solidFill>
            <a:srgbClr val="DAE6F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MY" altLang="en-US" sz="120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Give me customer feedback overview?</a:t>
            </a:r>
            <a:endParaRPr lang="en-MY" altLang="en-US" sz="120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720860" y="1343660"/>
            <a:ext cx="1637665" cy="429895"/>
          </a:xfrm>
          <a:prstGeom prst="roundRect">
            <a:avLst/>
          </a:prstGeom>
          <a:solidFill>
            <a:srgbClr val="DAE6F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MY" altLang="en-US" sz="120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What is Top Category Sentiment Feedback?</a:t>
            </a:r>
            <a:endParaRPr lang="en-MY" altLang="en-US" sz="120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2233910" y="1339850"/>
            <a:ext cx="1637665" cy="513715"/>
          </a:xfrm>
          <a:prstGeom prst="roundRect">
            <a:avLst/>
          </a:prstGeom>
          <a:solidFill>
            <a:srgbClr val="DAE6F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MY" altLang="en-US" sz="120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Any complaints from customers for this items?</a:t>
            </a:r>
            <a:endParaRPr lang="en-MY" altLang="en-US" sz="120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007600" y="1348740"/>
            <a:ext cx="1637665" cy="338455"/>
          </a:xfrm>
          <a:prstGeom prst="roundRect">
            <a:avLst/>
          </a:prstGeom>
          <a:solidFill>
            <a:srgbClr val="DAE6F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MY" altLang="en-US" sz="120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How to boost sales?</a:t>
            </a:r>
            <a:endParaRPr lang="en-MY" altLang="en-US" sz="120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68455" y="1357630"/>
            <a:ext cx="1637665" cy="429895"/>
          </a:xfrm>
          <a:prstGeom prst="roundRect">
            <a:avLst/>
          </a:prstGeom>
          <a:solidFill>
            <a:srgbClr val="DAE6F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MY" altLang="en-US" sz="120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Give me my account summary.</a:t>
            </a:r>
            <a:endParaRPr lang="en-MY" altLang="en-US" sz="120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1289175" y="3984625"/>
            <a:ext cx="1637665" cy="429895"/>
          </a:xfrm>
          <a:prstGeom prst="roundRect">
            <a:avLst/>
          </a:prstGeom>
          <a:solidFill>
            <a:srgbClr val="DAE6F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MY" altLang="en-US" sz="120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Delivery Issues</a:t>
            </a:r>
            <a:endParaRPr lang="en-MY" altLang="en-US" sz="120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3194175" y="3984625"/>
            <a:ext cx="1637665" cy="429895"/>
          </a:xfrm>
          <a:prstGeom prst="roundRect">
            <a:avLst/>
          </a:prstGeom>
          <a:solidFill>
            <a:srgbClr val="DAE6F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MY" altLang="en-US" sz="120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Product Quality</a:t>
            </a:r>
            <a:endParaRPr lang="en-MY" altLang="en-US" sz="120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3025775" y="1982470"/>
            <a:ext cx="2071370" cy="55308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p>
            <a:pPr algn="just">
              <a:lnSpc>
                <a:spcPct val="100000"/>
              </a:lnSpc>
            </a:pPr>
            <a:r>
              <a:rPr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"</a:t>
            </a:r>
            <a:r>
              <a:rPr lang="en-US" altLang="en-US"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Your top performers this week are [Product A], [Product B], and [Product C]</a:t>
            </a:r>
            <a:r>
              <a:rPr lang="en-MY" altLang="en-US"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!</a:t>
            </a:r>
            <a:r>
              <a:rPr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"</a:t>
            </a:r>
            <a:endParaRPr sz="10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3025775" y="3912235"/>
            <a:ext cx="1943735" cy="8934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noAutofit/>
          </a:bodyPr>
          <a:p>
            <a:pPr algn="just">
              <a:lnSpc>
                <a:spcPct val="100000"/>
              </a:lnSpc>
            </a:pPr>
            <a:r>
              <a:rPr lang="en-US" altLang="en-US"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"Here’s a </a:t>
            </a:r>
            <a:r>
              <a:rPr lang="en-MY" altLang="en-US"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feedback </a:t>
            </a:r>
            <a:r>
              <a:rPr lang="en-US" altLang="en-US"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breakdown</a:t>
            </a:r>
            <a:r>
              <a:rPr lang="en-MY" altLang="en-US"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:</a:t>
            </a:r>
            <a:endParaRPr lang="en-MY" altLang="en-US" sz="10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endParaRPr lang="en-US" altLang="en-US" sz="10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68% positive</a:t>
            </a:r>
            <a:endParaRPr lang="en-US" altLang="en-US" sz="10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22% neutral</a:t>
            </a:r>
            <a:endParaRPr lang="en-US" altLang="en-US" sz="10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10% negative</a:t>
            </a:r>
            <a:r>
              <a:rPr lang="en-MY" altLang="en-US"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. ”</a:t>
            </a:r>
            <a:endParaRPr lang="en-MY" altLang="en-US" sz="10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521085" y="5702300"/>
            <a:ext cx="1228725" cy="229235"/>
          </a:xfrm>
          <a:prstGeom prst="roundRect">
            <a:avLst/>
          </a:prstGeom>
          <a:solidFill>
            <a:srgbClr val="DAE6F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MY" altLang="en-US" sz="120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Thank You</a:t>
            </a:r>
            <a:endParaRPr lang="en-MY" altLang="en-US" sz="120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6379990" y="6036310"/>
            <a:ext cx="3510280" cy="5797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noAutofit/>
          </a:bodyPr>
          <a:p>
            <a:pPr algn="just">
              <a:lnSpc>
                <a:spcPct val="100000"/>
              </a:lnSpc>
            </a:pPr>
            <a:r>
              <a:rPr lang="en-US" altLang="en-US"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"You're very welcome. We look forward to assisting you again in the future. Please don't hesitate to reach out for further support."</a:t>
            </a:r>
            <a:endParaRPr lang="en-US" altLang="en-US" sz="10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endParaRPr lang="en-US" altLang="en-US" sz="10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7499495" y="629920"/>
            <a:ext cx="2139315" cy="3968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noAutofit/>
          </a:bodyPr>
          <a:p>
            <a:pPr algn="just">
              <a:lnSpc>
                <a:spcPct val="100000"/>
              </a:lnSpc>
            </a:pPr>
            <a:r>
              <a:rPr lang="en-US" altLang="en-US"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"Hello! How can I help you </a:t>
            </a:r>
            <a:r>
              <a:rPr lang="en-MY" altLang="en-US"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grow your GRAB store?</a:t>
            </a:r>
            <a:r>
              <a:rPr lang="en-US" altLang="en-US"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",</a:t>
            </a:r>
            <a:endParaRPr lang="en-US" altLang="en-US" sz="10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endParaRPr lang="en-US" altLang="en-US" sz="10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5317635" y="1992630"/>
            <a:ext cx="2558415" cy="360108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noAutofit/>
          </a:bodyPr>
          <a:p>
            <a:pPr algn="just">
              <a:lnSpc>
                <a:spcPct val="100000"/>
              </a:lnSpc>
            </a:pPr>
            <a:r>
              <a:rPr lang="en-US" altLang="en-US" sz="7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The top three positive feedbacks are "place", "food", "service" categories, indicating that these areas are performing well and should be maintained. </a:t>
            </a:r>
            <a:endParaRPr lang="en-US" altLang="en-US" sz="7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endParaRPr lang="en-US" altLang="en-US" sz="7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7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The top three negative feedbacks are related to the "food", "place", "service" categories, highlighting areas that require improvement.</a:t>
            </a:r>
            <a:endParaRPr lang="en-US" altLang="en-US" sz="7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endParaRPr lang="en-US" altLang="en-US" sz="7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7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Suggestion: </a:t>
            </a:r>
            <a:endParaRPr lang="en-US" altLang="en-US" sz="7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7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To improve food quality, consider using fresh ingredients, paying attention to flavor combinations, and improving presentation.</a:t>
            </a:r>
            <a:endParaRPr lang="en-US" altLang="en-US" sz="7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endParaRPr lang="en-US" altLang="en-US" sz="7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7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Ensure confirmation emails or messages are sent promptly after reservations are made.</a:t>
            </a:r>
            <a:endParaRPr lang="en-US" altLang="en-US" sz="7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endParaRPr lang="en-US" altLang="en-US" sz="7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7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To improve service, ensure that staff are attentive, friendly, and well-trained in menu knowledge.</a:t>
            </a:r>
            <a:endParaRPr lang="en-US" altLang="en-US" sz="7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endParaRPr lang="en-US" altLang="en-US" sz="7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7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The top three neutral feedbacks concern the "service", "food", "Waitress" categories,  suggesting that these areas have room for enhancement.</a:t>
            </a:r>
            <a:endParaRPr lang="en-US" altLang="en-US" sz="7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7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Suggestion: </a:t>
            </a:r>
            <a:endParaRPr lang="en-US" altLang="en-US" sz="7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endParaRPr lang="en-US" altLang="en-US" sz="7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7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To improve service, ensure that staff are attentive, friendly, and well-trained in menu knowledge.</a:t>
            </a:r>
            <a:endParaRPr lang="en-US" altLang="en-US" sz="7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endParaRPr lang="en-US" altLang="en-US" sz="7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7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To improve food quality, consider using fresh ingredients, paying attention to flavor combinations, and improving presentation.</a:t>
            </a:r>
            <a:endParaRPr lang="en-US" altLang="en-US" sz="7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endParaRPr lang="en-US" altLang="en-US" sz="7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7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Train staff to be more polite and attentive, ensuring that customer needs are met promptly.</a:t>
            </a:r>
            <a:endParaRPr lang="en-US" altLang="en-US" sz="7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12266930" y="2011045"/>
            <a:ext cx="1604645" cy="10591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noAutofit/>
          </a:bodyPr>
          <a:p>
            <a:pPr algn="just">
              <a:lnSpc>
                <a:spcPct val="100000"/>
              </a:lnSpc>
            </a:pPr>
            <a:r>
              <a:rPr lang="en-US" altLang="en-US"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"Here are the top concerns raised by your customers — let’s tackle them one by one.</a:t>
            </a:r>
            <a:endParaRPr lang="en-US" altLang="en-US" sz="10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r>
              <a:rPr lang="en-MY" altLang="en-US"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[concern1],            </a:t>
            </a:r>
            <a:endParaRPr lang="en-MY" altLang="en-US" sz="10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r>
              <a:rPr lang="en-MY" altLang="en-US"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[concern2]”</a:t>
            </a:r>
            <a:endParaRPr lang="en-US" altLang="en-US" sz="10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endParaRPr lang="en-US" altLang="en-US" sz="10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endParaRPr lang="en-MY" altLang="en-US" sz="10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10072515" y="1992630"/>
            <a:ext cx="1412240" cy="8604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noAutofit/>
          </a:bodyPr>
          <a:p>
            <a:pPr algn="just">
              <a:lnSpc>
                <a:spcPct val="100000"/>
              </a:lnSpc>
            </a:pPr>
            <a:r>
              <a:rPr lang="en-US" altLang="en-US"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"Try a 'Buy 1 Free 1' for slow-moving items, or discounts on top sellers during lunch hours."</a:t>
            </a:r>
            <a:endParaRPr lang="en-US" altLang="en-US" sz="10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8095760" y="2011045"/>
            <a:ext cx="1610360" cy="8604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noAutofit/>
          </a:bodyPr>
          <a:p>
            <a:pPr algn="just">
              <a:lnSpc>
                <a:spcPct val="100000"/>
              </a:lnSpc>
            </a:pPr>
            <a:r>
              <a:rPr lang="en-US" altLang="en-US"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 "Here’s your merchant profile: Name: [Your Name], Store: [Your Store], Location: [Your Area], Rating: [4.6⭐]"</a:t>
            </a:r>
            <a:endParaRPr lang="en-US" altLang="en-US" sz="10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11390140" y="4632960"/>
            <a:ext cx="1435735" cy="68770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noAutofit/>
          </a:bodyPr>
          <a:p>
            <a:pPr algn="just">
              <a:lnSpc>
                <a:spcPct val="100000"/>
              </a:lnSpc>
            </a:pPr>
            <a:r>
              <a:rPr lang="en-US" altLang="en-US"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"Sorry to hear that. Please try to refresh your page and upload again."</a:t>
            </a:r>
            <a:endParaRPr lang="en-US" altLang="en-US" sz="10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13221480" y="4632960"/>
            <a:ext cx="1610360" cy="118237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noAutofit/>
          </a:bodyPr>
          <a:p>
            <a:pPr algn="just">
              <a:lnSpc>
                <a:spcPct val="100000"/>
              </a:lnSpc>
            </a:pPr>
            <a:r>
              <a:rPr lang="en-US" altLang="en-US"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"If your file uploaded successfully, but it didn't show up any graph, that means your file is too large. Please create two files and upload them separately."</a:t>
            </a:r>
            <a:endParaRPr lang="en-US" altLang="en-US" sz="10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endParaRPr lang="en-US" altLang="en-US" sz="10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10430655" y="6036310"/>
            <a:ext cx="1652270" cy="5797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noAutofit/>
          </a:bodyPr>
          <a:p>
            <a:pPr algn="just">
              <a:lnSpc>
                <a:spcPct val="100000"/>
              </a:lnSpc>
            </a:pPr>
            <a:r>
              <a:rPr lang="en-US" altLang="en-US"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"You can try out first, any doubt feel free to ask me.:)"</a:t>
            </a:r>
            <a:endParaRPr lang="en-US" altLang="en-US" sz="10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  <a:p>
            <a:pPr algn="just">
              <a:lnSpc>
                <a:spcPct val="100000"/>
              </a:lnSpc>
            </a:pPr>
            <a:endParaRPr lang="en-US" altLang="en-US" sz="10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0390650" y="5702300"/>
            <a:ext cx="1692275" cy="218440"/>
          </a:xfrm>
          <a:prstGeom prst="roundRect">
            <a:avLst/>
          </a:prstGeom>
          <a:solidFill>
            <a:srgbClr val="DAE6F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MY" altLang="en-US" sz="120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Continue converstion</a:t>
            </a:r>
            <a:endParaRPr lang="en-MY" altLang="en-US" sz="120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cxnSp>
        <p:nvCxnSpPr>
          <p:cNvPr id="30" name="Straight Connector 29"/>
          <p:cNvCxnSpPr>
            <a:stCxn id="5" idx="2"/>
            <a:endCxn id="20" idx="0"/>
          </p:cNvCxnSpPr>
          <p:nvPr/>
        </p:nvCxnSpPr>
        <p:spPr>
          <a:xfrm>
            <a:off x="8568835" y="490855"/>
            <a:ext cx="635" cy="139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>
            <a:off x="8566295" y="1026795"/>
            <a:ext cx="3175" cy="1663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8864110" y="1195070"/>
            <a:ext cx="3175" cy="1447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0824990" y="1198880"/>
            <a:ext cx="3175" cy="1447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506990" y="1195070"/>
            <a:ext cx="3175" cy="1447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3972070" y="1203960"/>
            <a:ext cx="3175" cy="1447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 flipV="1">
            <a:off x="1402225" y="1193800"/>
            <a:ext cx="11666855" cy="5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13065270" y="1203960"/>
            <a:ext cx="3175" cy="1447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3968260" y="1787525"/>
            <a:ext cx="6985" cy="209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4008900" y="3690620"/>
            <a:ext cx="2540" cy="2216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6538105" y="1765300"/>
            <a:ext cx="2540" cy="2216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12" idx="2"/>
          </p:cNvCxnSpPr>
          <p:nvPr/>
        </p:nvCxnSpPr>
        <p:spPr>
          <a:xfrm flipH="1">
            <a:off x="10824990" y="1687195"/>
            <a:ext cx="1905" cy="3009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3" idx="2"/>
          </p:cNvCxnSpPr>
          <p:nvPr/>
        </p:nvCxnSpPr>
        <p:spPr>
          <a:xfrm>
            <a:off x="8887605" y="1787525"/>
            <a:ext cx="12065" cy="2235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12125470" y="3759835"/>
            <a:ext cx="1935480" cy="38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endCxn id="14" idx="0"/>
          </p:cNvCxnSpPr>
          <p:nvPr/>
        </p:nvCxnSpPr>
        <p:spPr>
          <a:xfrm>
            <a:off x="12107690" y="3759835"/>
            <a:ext cx="635" cy="2247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Text Box 49"/>
          <p:cNvSpPr txBox="1"/>
          <p:nvPr/>
        </p:nvSpPr>
        <p:spPr>
          <a:xfrm>
            <a:off x="8988570" y="5618480"/>
            <a:ext cx="123952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MY" altLang="en-US" b="1">
                <a:solidFill>
                  <a:schemeClr val="bg1"/>
                </a:solidFill>
              </a:rPr>
              <a:t>Conclusion</a:t>
            </a:r>
            <a:endParaRPr lang="en-MY" altLang="en-US" b="1">
              <a:solidFill>
                <a:schemeClr val="bg1"/>
              </a:solidFill>
            </a:endParaRP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4006360" y="4803140"/>
            <a:ext cx="2540" cy="13931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4006360" y="6181090"/>
            <a:ext cx="2279650" cy="63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>
            <a:off x="5910725" y="5593715"/>
            <a:ext cx="2540" cy="2216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5909455" y="5808345"/>
            <a:ext cx="3733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10734820" y="2853055"/>
            <a:ext cx="17780" cy="2758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12371850" y="6193790"/>
            <a:ext cx="1705610" cy="25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656100" y="1343660"/>
            <a:ext cx="1637665" cy="429895"/>
          </a:xfrm>
          <a:prstGeom prst="roundRect">
            <a:avLst/>
          </a:prstGeom>
          <a:solidFill>
            <a:srgbClr val="DAE6F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MY" altLang="en-US" sz="120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Business summary please?</a:t>
            </a:r>
            <a:endParaRPr lang="en-MY" altLang="en-US" sz="120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61" name="Text Box 60"/>
          <p:cNvSpPr txBox="1"/>
          <p:nvPr/>
        </p:nvSpPr>
        <p:spPr>
          <a:xfrm>
            <a:off x="195580" y="1986915"/>
            <a:ext cx="2558415" cy="7569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noAutofit/>
          </a:bodyPr>
          <a:p>
            <a:pPr algn="just">
              <a:lnSpc>
                <a:spcPct val="100000"/>
              </a:lnSpc>
            </a:pPr>
            <a:r>
              <a:rPr lang="en-MY" altLang="en-US" sz="1000" b="0">
                <a:solidFill>
                  <a:schemeClr val="tx1"/>
                </a:solidFill>
                <a:latin typeface="Bahnschrift SemiCondensed" panose="020B0502040204020203" charset="0"/>
                <a:ea typeface="Consolas" panose="020B0609020204030204"/>
                <a:cs typeface="Bahnschrift SemiCondensed" panose="020B0502040204020203" charset="0"/>
              </a:rPr>
              <a:t>“Sure! Let me pull up your business performance dashboard for a quick overview. Click this link please. (Redirect to dashboard page).”</a:t>
            </a:r>
            <a:endParaRPr lang="en-MY" altLang="en-US" sz="1000" b="0">
              <a:solidFill>
                <a:schemeClr val="tx1"/>
              </a:solidFill>
              <a:latin typeface="Bahnschrift SemiCondensed" panose="020B0502040204020203" charset="0"/>
              <a:ea typeface="Consolas" panose="020B0609020204030204"/>
              <a:cs typeface="Bahnschrift SemiCondensed" panose="020B0502040204020203" charset="0"/>
            </a:endParaRPr>
          </a:p>
        </p:txBody>
      </p:sp>
      <p:cxnSp>
        <p:nvCxnSpPr>
          <p:cNvPr id="62" name="Straight Connector 61"/>
          <p:cNvCxnSpPr/>
          <p:nvPr/>
        </p:nvCxnSpPr>
        <p:spPr>
          <a:xfrm flipH="1">
            <a:off x="1407940" y="1777365"/>
            <a:ext cx="6985" cy="209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1414925" y="1203960"/>
            <a:ext cx="3175" cy="1447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1379365" y="2726690"/>
            <a:ext cx="17780" cy="3688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1392065" y="6419850"/>
            <a:ext cx="4897120" cy="36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Rounded Rectangle 1"/>
          <p:cNvSpPr/>
          <p:nvPr/>
        </p:nvSpPr>
        <p:spPr>
          <a:xfrm>
            <a:off x="12266930" y="3267710"/>
            <a:ext cx="1570355" cy="318770"/>
          </a:xfrm>
          <a:prstGeom prst="roundRect">
            <a:avLst/>
          </a:prstGeom>
          <a:solidFill>
            <a:srgbClr val="DAE6F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MY" altLang="en-US" sz="120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How can i improve ?</a:t>
            </a:r>
            <a:endParaRPr lang="en-MY" altLang="en-US" sz="120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2465</Words>
  <Application>WPS Slides</Application>
  <PresentationFormat>Widescreen</PresentationFormat>
  <Paragraphs>82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Cambria</vt:lpstr>
      <vt:lpstr>Bahnschrift SemiCondensed</vt:lpstr>
      <vt:lpstr>Consolas</vt:lpstr>
      <vt:lpstr>Calibri</vt:lpstr>
      <vt:lpstr>Microsoft YaHei</vt:lpstr>
      <vt:lpstr>Arial Unicode MS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google1598174267</cp:lastModifiedBy>
  <cp:revision>3</cp:revision>
  <dcterms:created xsi:type="dcterms:W3CDTF">2025-01-21T04:22:00Z</dcterms:created>
  <dcterms:modified xsi:type="dcterms:W3CDTF">2025-04-12T10:27:29Z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4F1BA2DC85004C9EB8244B711E11D53B_11</vt:lpwstr>
  </property>
  <property fmtid="{D5CDD505-2E9C-101B-9397-08002B2CF9AE}" pid="3" name="KSOProductBuildVer">
    <vt:lpwstr>1033-12.2.0.20782</vt:lpwstr>
  </property>
</Properties>
</file>